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80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36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3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9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99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4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7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7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6009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6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725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52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52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0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2A82D-E337-4ED4-A0B4-62B3031F597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5400685-739C-4CD8-B2CD-008DA8068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5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Decision Tree for numerical Data:</a:t>
            </a: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 </a:t>
            </a:r>
            <a:endParaRPr lang="en-US" b="1" i="1" u="sng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825122"/>
            <a:ext cx="455295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5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Decision Tree for numerical Data:</a:t>
            </a:r>
          </a:p>
          <a:p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u="sng" dirty="0" smtClean="0"/>
              <a:t> </a:t>
            </a:r>
            <a:endParaRPr lang="en-US" b="1" i="1" u="sng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825122"/>
            <a:ext cx="4552950" cy="3086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887" y="2796547"/>
            <a:ext cx="342900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8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Decision Tree Disadvantages:</a:t>
            </a:r>
          </a:p>
          <a:p>
            <a:pPr>
              <a:buAutoNum type="arabicPeriod"/>
            </a:pPr>
            <a:r>
              <a:rPr lang="en-US" dirty="0" smtClean="0"/>
              <a:t>When building decision Tree at its complete depth then then decision tree is learning very well on the train data.</a:t>
            </a:r>
          </a:p>
          <a:p>
            <a:pPr>
              <a:buAutoNum type="arabicPeriod"/>
            </a:pPr>
            <a:r>
              <a:rPr lang="en-US" dirty="0" smtClean="0"/>
              <a:t>On the test data, the decision tree does not generalizes well (poor performance on the new test data).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This results in </a:t>
            </a:r>
            <a:r>
              <a:rPr lang="en-US" b="1" i="1" dirty="0" err="1" smtClean="0"/>
              <a:t>overfitting</a:t>
            </a:r>
            <a:r>
              <a:rPr lang="en-US" b="1" i="1" dirty="0" smtClean="0"/>
              <a:t> </a:t>
            </a:r>
            <a:r>
              <a:rPr lang="en-US" dirty="0" smtClean="0"/>
              <a:t>the model.</a:t>
            </a:r>
            <a:r>
              <a:rPr lang="en-US" b="1" u="sng" dirty="0" smtClean="0"/>
              <a:t> </a:t>
            </a:r>
          </a:p>
          <a:p>
            <a:endParaRPr lang="en-US" b="1" dirty="0" smtClean="0"/>
          </a:p>
          <a:p>
            <a:r>
              <a:rPr lang="en-US" b="1" dirty="0" err="1" smtClean="0"/>
              <a:t>Overfitting</a:t>
            </a:r>
            <a:endParaRPr lang="en-US" b="1" dirty="0"/>
          </a:p>
          <a:p>
            <a:r>
              <a:rPr lang="en-US" dirty="0"/>
              <a:t>Decision trees can grow </a:t>
            </a:r>
            <a:r>
              <a:rPr lang="en-US" b="1" dirty="0"/>
              <a:t>very deep</a:t>
            </a:r>
            <a:endParaRPr lang="en-US" dirty="0"/>
          </a:p>
          <a:p>
            <a:r>
              <a:rPr lang="en-US" dirty="0"/>
              <a:t>They memorize training data</a:t>
            </a:r>
          </a:p>
          <a:p>
            <a:r>
              <a:rPr lang="en-US" dirty="0"/>
              <a:t>High </a:t>
            </a:r>
            <a:r>
              <a:rPr lang="en-US" b="1" dirty="0"/>
              <a:t>variance</a:t>
            </a:r>
            <a:r>
              <a:rPr lang="en-US" dirty="0"/>
              <a:t>, low </a:t>
            </a:r>
            <a:r>
              <a:rPr lang="en-US" dirty="0" smtClean="0"/>
              <a:t>bias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7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Ensembles of Decision </a:t>
            </a:r>
            <a:r>
              <a:rPr lang="en-US" dirty="0" smtClean="0"/>
              <a:t>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single decision </a:t>
            </a:r>
            <a:r>
              <a:rPr lang="en-US" dirty="0" smtClean="0"/>
              <a:t>tree </a:t>
            </a:r>
            <a:r>
              <a:rPr lang="en-US" dirty="0" err="1" smtClean="0"/>
              <a:t>overfits</a:t>
            </a:r>
            <a:r>
              <a:rPr lang="en-US" dirty="0" smtClean="0"/>
              <a:t>. </a:t>
            </a:r>
            <a:r>
              <a:rPr lang="en-US" b="1" i="1" dirty="0" smtClean="0"/>
              <a:t>Ensembles</a:t>
            </a:r>
            <a:r>
              <a:rPr lang="en-US" dirty="0" smtClean="0"/>
              <a:t> </a:t>
            </a:r>
            <a:r>
              <a:rPr lang="en-US" dirty="0"/>
              <a:t>combine many </a:t>
            </a:r>
            <a:r>
              <a:rPr lang="en-US" dirty="0" smtClean="0"/>
              <a:t>Decision trees </a:t>
            </a:r>
            <a:r>
              <a:rPr lang="en-US" dirty="0"/>
              <a:t>to get more accurate, stable, and generalizable models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How ensembles fix Decision Tree problems</a:t>
            </a:r>
          </a:p>
          <a:p>
            <a:pPr marL="0" indent="0">
              <a:buNone/>
            </a:pPr>
            <a:r>
              <a:rPr lang="en-US" b="1" dirty="0"/>
              <a:t>🔹 Reduce variance</a:t>
            </a:r>
          </a:p>
          <a:p>
            <a:pPr lvl="1"/>
            <a:r>
              <a:rPr lang="en-US" dirty="0"/>
              <a:t>Each tree makes different mistakes</a:t>
            </a:r>
          </a:p>
          <a:p>
            <a:pPr lvl="1"/>
            <a:r>
              <a:rPr lang="en-US" dirty="0"/>
              <a:t>Averaging predictions </a:t>
            </a:r>
            <a:r>
              <a:rPr lang="en-US" dirty="0" err="1"/>
              <a:t>smooths</a:t>
            </a:r>
            <a:r>
              <a:rPr lang="en-US" dirty="0"/>
              <a:t> errors</a:t>
            </a:r>
          </a:p>
          <a:p>
            <a:pPr marL="0" indent="0">
              <a:buNone/>
            </a:pPr>
            <a:r>
              <a:rPr lang="en-US" b="1" dirty="0"/>
              <a:t>🔹 Improve generalization</a:t>
            </a:r>
          </a:p>
          <a:p>
            <a:pPr lvl="1"/>
            <a:r>
              <a:rPr lang="en-US" dirty="0"/>
              <a:t>Less sensitive to noise</a:t>
            </a:r>
          </a:p>
          <a:p>
            <a:pPr lvl="1"/>
            <a:r>
              <a:rPr lang="en-US" dirty="0"/>
              <a:t>Better performance on unseen data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8647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Ensembles of Decision </a:t>
            </a:r>
            <a:r>
              <a:rPr lang="en-US" dirty="0" smtClean="0"/>
              <a:t>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457200" indent="-457200">
              <a:buFont typeface="Wingdings 3" charset="2"/>
              <a:buAutoNum type="arabicPeriod"/>
            </a:pPr>
            <a:r>
              <a:rPr lang="en-US" sz="2400" b="1" dirty="0" smtClean="0"/>
              <a:t>Random Forest Classifier : </a:t>
            </a:r>
            <a:r>
              <a:rPr lang="en-US" sz="2400" b="1" dirty="0"/>
              <a:t>Bagging or Bootstrap Samples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716" y="1905000"/>
            <a:ext cx="5709708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Ensembles of Decision </a:t>
            </a:r>
            <a:r>
              <a:rPr lang="en-US" dirty="0" smtClean="0"/>
              <a:t>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1. Random Forest Classifier:</a:t>
            </a:r>
            <a:endParaRPr lang="en-US" b="1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73" y="2414649"/>
            <a:ext cx="106203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1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Ensembles of Decision </a:t>
            </a:r>
            <a:r>
              <a:rPr lang="en-US" dirty="0" smtClean="0"/>
              <a:t>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1. Random Forest Classifier:</a:t>
            </a:r>
            <a:endParaRPr lang="en-US" b="1" dirty="0"/>
          </a:p>
          <a:p>
            <a:pPr marL="0" indent="0">
              <a:buNone/>
            </a:pPr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871705"/>
              </p:ext>
            </p:extLst>
          </p:nvPr>
        </p:nvGraphicFramePr>
        <p:xfrm>
          <a:off x="2244656" y="3043030"/>
          <a:ext cx="8915400" cy="1828800"/>
        </p:xfrm>
        <a:graphic>
          <a:graphicData uri="http://schemas.openxmlformats.org/drawingml/2006/table">
            <a:tbl>
              <a:tblPr/>
              <a:tblGrid>
                <a:gridCol w="2971800"/>
                <a:gridCol w="2971800"/>
                <a:gridCol w="2971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P(class=0)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P(class=1)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Tree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Tree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Tree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Tree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244656" y="2177294"/>
            <a:ext cx="568937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Probability-based voting (Actual behavior)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Each tree outputs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class probabilities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not just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20348" y="4971330"/>
            <a:ext cx="100716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Average probabilities</a:t>
            </a:r>
          </a:p>
          <a:p>
            <a:r>
              <a:rPr lang="en-US" dirty="0" smtClean="0"/>
              <a:t>P(0)=(0.20+0.40+0.70+0.55)/4=0.4625</a:t>
            </a:r>
          </a:p>
          <a:p>
            <a:r>
              <a:rPr lang="en-US" dirty="0" smtClean="0"/>
              <a:t>P(1)=(0.80+0.60+0.30+0.45)/4=0.5375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118958" y="6087331"/>
            <a:ext cx="2892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Final prediction = class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2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1410</TotalTime>
  <Words>238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Decision Trees:</vt:lpstr>
      <vt:lpstr>Decision Trees:</vt:lpstr>
      <vt:lpstr>Decision Trees:</vt:lpstr>
      <vt:lpstr>Ensembles of Decision Trees:</vt:lpstr>
      <vt:lpstr>Ensembles of Decision Trees:</vt:lpstr>
      <vt:lpstr>Ensembles of Decision Trees:</vt:lpstr>
      <vt:lpstr>Ensembles of Decision Trees: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Trees:</dc:title>
  <dc:creator>ABC</dc:creator>
  <cp:lastModifiedBy>ABC</cp:lastModifiedBy>
  <cp:revision>4</cp:revision>
  <cp:lastPrinted>2026-01-12T13:26:00Z</cp:lastPrinted>
  <dcterms:created xsi:type="dcterms:W3CDTF">2026-01-12T06:59:33Z</dcterms:created>
  <dcterms:modified xsi:type="dcterms:W3CDTF">2026-01-13T06:30:24Z</dcterms:modified>
</cp:coreProperties>
</file>